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 for FinCore Banking API Sprint 1 Review. Introduce the project, team, and course details. Mention this is an Agile sprint-based software engineering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FinCoreBank's modernization project. Explain the Agile sprint methodology and the importance of Sprint 1's focus on database foundation. The Agile cycle diagram shows Plan → Design → Build → Test →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Sprint 1 has 5 key learning objectives mapped on a timeline roadmap. Walk through each objective: SQL Fundamentals, DBMS vs RDBMS comparison, Data Warehouse concepts, Star and Snowflake Schema design, and Fact &amp; Dimension table modeling.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 is the backbone of relational database management. Cover the four CRUD operations with banking-specific SQL examples. Highlight how each operation maps to real banking scenarios.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DBMS and RDBMS side by side. Emphasize why RDBMS is the right choice for banking — ACID transactions, data integrity, and relationship management are critical for financial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entity relationships in FinCoreBank's data model: Customer owns Account, has Transactions, applies for Loans. Branch hosts Accounts. Then present the 5 key benefits of RDBMS for banking.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Warehouse stores historical data from operational systems. Explain the ETL pipeline: Extract from Core Banking/ATM/Mobile → Transform/cleanse → Load into Warehouse → then Analytics dashboards. This enables trend analysis, forecasting, and BI for FinCoreBank.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 schema has one Fact_Transaction table in the center, connected directly to four dimension tables: Customer, Account, Branch, and Date. It's simple and fast — studied as a comparison to the recommended Snowflake Schema in Sprint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Snowflake schema normalizes dimensions into sub-tables creating hierarchies: Customer → City → State → Country; Account → AcctType; Branch → Region. Selected for FinCoreBank Sprint 1 due to reduced redundancy and better storage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Side-by-side comparison of the two schema types. Snowflake Schema is recommended for FinCoreBank due to its normalized design, reduced redundancy, and better storage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 table stores measurable data (amounts, IDs) and is surrounded by dimension tables that provide descriptive context. The Fact_Transaction table connects to Customer, Account, Branch, and Date dimensions via foreign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banking data model in snowflake schema format. The central Fact_Transaction table links to four dimension tables via foreign keys, with further normalized sub-tables. This model supports all required banking analytics and reporting for FinCoreBank.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Decision matrix showing Snowflake Schema outscores Star Schema across all 5 criteria. Normalized design, storage efficiency, and structured hierarchy make it the right choice for FinCoreBank's banking data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6 sprint objectives completed at 100%. Present each achievement with pride. Highlight that full sprint velocity was achieved, demonstrating strong project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Conclude with a summary of Sprint 1 achievements and the roadmap to Sprint 2. Sprint 2 will build on this database foundation to implement the actual banking APIs. Open for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62055"/>
          </a:solidFill>
          <a:ln w="12700">
            <a:solidFill>
              <a:srgbClr val="1620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D1545"/>
          </a:solidFill>
          <a:ln w="12700">
            <a:solidFill>
              <a:srgbClr val="0D15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926080" y="0"/>
            <a:ext cx="320040" cy="51435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0"/>
            <a:ext cx="1371600" cy="36576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822960" cy="82296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822960" cy="82296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68880"/>
            <a:ext cx="822960" cy="822960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520440"/>
            <a:ext cx="822960" cy="82296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17320" y="4754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4AE"/>
                </a:solidFill>
              </a:rPr>
              <a:t>BANKING</a:t>
            </a:r>
            <a:endParaRPr lang="en-US" sz="900" dirty="0"/>
          </a:p>
        </p:txBody>
      </p:sp>
      <p:sp>
        <p:nvSpPr>
          <p:cNvPr id="11" name="Text 5"/>
          <p:cNvSpPr/>
          <p:nvPr/>
        </p:nvSpPr>
        <p:spPr>
          <a:xfrm>
            <a:off x="1417320" y="152704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4AE"/>
                </a:solidFill>
              </a:rPr>
              <a:t>DATABASE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417320" y="25786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4AE"/>
                </a:solidFill>
              </a:rPr>
              <a:t>SECURITY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1417320" y="36301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0A4AE"/>
                </a:solidFill>
              </a:rPr>
              <a:t>ANALYTICS</a:t>
            </a:r>
            <a:endParaRPr lang="en-US" sz="900" dirty="0"/>
          </a:p>
        </p:txBody>
      </p:sp>
      <p:sp>
        <p:nvSpPr>
          <p:cNvPr id="14" name="Text 8"/>
          <p:cNvSpPr/>
          <p:nvPr/>
        </p:nvSpPr>
        <p:spPr>
          <a:xfrm>
            <a:off x="33832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CD4"/>
                </a:solidFill>
              </a:rPr>
              <a:t>SPRINT REVIEW  •  2025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3383280" y="82296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FinCore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API</a:t>
            </a:r>
            <a:endParaRPr lang="en-US" sz="4200" dirty="0"/>
          </a:p>
        </p:txBody>
      </p:sp>
      <p:sp>
        <p:nvSpPr>
          <p:cNvPr id="16" name="Text 10"/>
          <p:cNvSpPr/>
          <p:nvPr/>
        </p:nvSpPr>
        <p:spPr>
          <a:xfrm>
            <a:off x="3383280" y="23774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2A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Sprint 1: Database Foundation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42A5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and Data Modeling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3383280" y="3291840"/>
            <a:ext cx="5303520" cy="36576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3383280" y="3474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Student Name</a:t>
            </a:r>
            <a:pPr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 xml:space="preserve">   |   Course: BSc Software Engineering   |   Date: 2025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33832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D54F"/>
                </a:solidFill>
              </a:rPr>
              <a:t>FinCoreBank Pvt. Ltd.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3383280" y="44805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1565C0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383280" y="448056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AGILE  /  SCRUM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PROJECT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02336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0972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About FinCoreBank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7190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FinCoreBank Pvt. Ltd. – leading private banking institution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2267712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2494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Legacy system modernization initiative launched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798064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277977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Agile/Scrum methodology with 2-week sprints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57200" y="3328416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1012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Sprint 1 focuses on database foundation &amp; data modeling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57200" y="3858768"/>
            <a:ext cx="256032" cy="256032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384048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Goal: Build scalable Banking REST API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0" y="960120"/>
            <a:ext cx="4297680" cy="3566160"/>
          </a:xfrm>
          <a:prstGeom prst="rect">
            <a:avLst/>
          </a:prstGeom>
          <a:solidFill>
            <a:srgbClr val="EBF5FB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4754880" y="10515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Agile Sprint Cycle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257800" y="1325880"/>
            <a:ext cx="731520" cy="54864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257800" y="1325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PLAN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812280" y="1325880"/>
            <a:ext cx="731520" cy="54864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812280" y="1325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DESIGN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223760" y="2468880"/>
            <a:ext cx="731520" cy="548640"/>
          </a:xfrm>
          <a:prstGeom prst="ellipse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223760" y="2468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BUILD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897880" y="3200400"/>
            <a:ext cx="731520" cy="548640"/>
          </a:xfrm>
          <a:prstGeom prst="ellipse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97880" y="320040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TEST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4526280" y="2468880"/>
            <a:ext cx="731520" cy="548640"/>
          </a:xfrm>
          <a:prstGeom prst="ellipse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526280" y="24688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REVIEW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5120640" y="4160520"/>
            <a:ext cx="3291840" cy="320040"/>
          </a:xfrm>
          <a:prstGeom prst="roundRect">
            <a:avLst>
              <a:gd name="adj" fmla="val 17143"/>
            </a:avLst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20640" y="41605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▶  Sprint 1 Currently In Progress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SPRINT 1 OBJECTIVES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77240" y="2606040"/>
            <a:ext cx="7589520" cy="64008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05840"/>
            <a:ext cx="155448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1554480" cy="5486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05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9164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3591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SQL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565C0"/>
                </a:solidFill>
              </a:rPr>
              <a:t>Fundamentals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327355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CRUD Ops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SQL Queries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Data Types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011680" y="1005840"/>
            <a:ext cx="155448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011680" y="1005840"/>
            <a:ext cx="1554480" cy="54864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011680" y="1005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691640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057400" y="23591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8E5"/>
                </a:solidFill>
              </a:rPr>
              <a:t>DBMS vs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88E5"/>
                </a:solidFill>
              </a:rPr>
              <a:t>RDBMS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2057400" y="327355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Comparison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Relationships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Keys &amp; Constraints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657600" y="1005840"/>
            <a:ext cx="155448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657600" y="1005840"/>
            <a:ext cx="1554480" cy="5486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657600" y="1005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69164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703320" y="23591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Data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</a:rPr>
              <a:t>Warehouse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3703320" y="327355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Reporting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Analytics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Central Repo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303520" y="1005840"/>
            <a:ext cx="155448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303520" y="1005840"/>
            <a:ext cx="1554480" cy="54864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5303520" y="1005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04</a:t>
            </a:r>
            <a:endParaRPr lang="en-US" sz="2000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691640"/>
            <a:ext cx="548640" cy="5486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49240" y="23591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1FA2"/>
                </a:solidFill>
              </a:rPr>
              <a:t>Star/Snowflake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7B1FA2"/>
                </a:solidFill>
              </a:rPr>
              <a:t>Schema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5349240" y="327355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Schemas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Design Patterns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Banking Model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949440" y="1005840"/>
            <a:ext cx="1554480" cy="34747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6949440" y="1005840"/>
            <a:ext cx="1554480" cy="54864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949440" y="1005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05</a:t>
            </a:r>
            <a:endParaRPr lang="en-US" sz="2000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2360" y="1691640"/>
            <a:ext cx="548640" cy="5486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995160" y="23591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</a:rPr>
              <a:t>Fact &amp; Dim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3A047"/>
                </a:solidFill>
              </a:rPr>
              <a:t>Tables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6995160" y="3273552"/>
            <a:ext cx="1463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Measures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Descriptors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>Modeling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INTRODUCTION TO SQL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68580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761"/>
                </a:solidFill>
              </a:rPr>
              <a:t>SQL (Structured Query Language) — The standard language for managing and manipulating relational databases, enabling data definition, querying, and control.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01168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691640"/>
            <a:ext cx="2011680" cy="50292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76479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CREATE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320040" y="228600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accounts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(id INT, name VARCHAR)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50592" y="1691640"/>
            <a:ext cx="201168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50592" y="1691640"/>
            <a:ext cx="2011680" cy="50292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176479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044952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READ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2496312" y="228600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balance &gt; 0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626864" y="1691640"/>
            <a:ext cx="201168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26864" y="1691640"/>
            <a:ext cx="2011680" cy="50292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744" y="176479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21224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UPDATE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4672584" y="228600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accounts 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 = balance + 500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803136" y="1691640"/>
            <a:ext cx="201168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803136" y="1691640"/>
            <a:ext cx="2011680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016" y="176479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97496" y="16916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DELETE</a:t>
            </a:r>
            <a:endParaRPr lang="en-US" sz="1700" dirty="0"/>
          </a:p>
        </p:txBody>
      </p:sp>
      <p:sp>
        <p:nvSpPr>
          <p:cNvPr id="26" name="Text 20"/>
          <p:cNvSpPr/>
          <p:nvPr/>
        </p:nvSpPr>
        <p:spPr>
          <a:xfrm>
            <a:off x="6848856" y="2286000"/>
            <a:ext cx="19202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transactions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status = 'VOID'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457200" y="3657600"/>
            <a:ext cx="27432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D54F"/>
                </a:solidFill>
              </a:rPr>
              <a:t>Banking Use Cases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365760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🏧  Customer Management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2542032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💳  Account Management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718304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💰  Transaction Processing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6894576" y="41148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🔐  Loan &amp; Credit Operations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DBMS vs RDBMS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3749040" cy="5029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68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DBMS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166360" y="868680"/>
            <a:ext cx="374904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66360" y="86868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RDBMS  ✦ Recommended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14800" y="9144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9144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D54F"/>
                </a:solidFill>
              </a:rPr>
              <a:t>VS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28600" y="1508760"/>
            <a:ext cx="868680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Storage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91640" y="1508760"/>
            <a:ext cx="2286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Files &amp; flat tables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1554480"/>
            <a:ext cx="9144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155448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AF4"/>
                </a:solidFill>
              </a:rPr>
              <a:t>vs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74920" y="1508760"/>
            <a:ext cx="37490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Relational tables with keys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075688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075688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Relationships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91640" y="2075688"/>
            <a:ext cx="2286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Limited / no foreign keys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14800" y="2121408"/>
            <a:ext cx="9144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0" y="212140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AF4"/>
                </a:solidFill>
              </a:rPr>
              <a:t>vs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2075688"/>
            <a:ext cx="37490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Full Foreign &amp; Primary Key support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2642616"/>
            <a:ext cx="868680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2642616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Security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91640" y="2642616"/>
            <a:ext cx="2286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Basic / lower security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114800" y="2688336"/>
            <a:ext cx="9144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2688336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AF4"/>
                </a:solidFill>
              </a:rPr>
              <a:t>vs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2642616"/>
            <a:ext cx="37490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Role-based, high security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3209544"/>
            <a:ext cx="86868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209544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Integrity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91640" y="3209544"/>
            <a:ext cx="2286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No ACID guarantee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114800" y="3255264"/>
            <a:ext cx="9144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0" y="325526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AF4"/>
                </a:solidFill>
              </a:rPr>
              <a:t>vs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3209544"/>
            <a:ext cx="37490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Full ACID compliance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28600" y="3776472"/>
            <a:ext cx="8686800" cy="530352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776472"/>
            <a:ext cx="13716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Examples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691640" y="3776472"/>
            <a:ext cx="228600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MS Access, FoxPro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114800" y="3822192"/>
            <a:ext cx="914400" cy="43891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114800" y="382219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3EAF4"/>
                </a:solidFill>
              </a:rPr>
              <a:t>vs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3776472"/>
            <a:ext cx="3749040" cy="53035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65C0"/>
                </a:solidFill>
              </a:rPr>
              <a:t>MySQL, PostgreSQL, Oracle, MSSQL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28600" y="4343400"/>
            <a:ext cx="8686800" cy="566928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4343400"/>
            <a:ext cx="850392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A047"/>
                </a:solidFill>
              </a:rPr>
              <a:t>✅  FinCoreBank selects RDBMS for its full ACID compliance, relational integrity, and enterprise-grade security requirements.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FINCORE USES RDBMS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566160" y="2194560"/>
            <a:ext cx="2011680" cy="6400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566160" y="2194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1828800" cy="59436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9144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194560"/>
            <a:ext cx="1828800" cy="59436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" y="2194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Account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1828800" cy="594360"/>
          </a:xfrm>
          <a:prstGeom prst="rect">
            <a:avLst/>
          </a:prstGeom>
          <a:solidFill>
            <a:srgbClr val="7B1FA2"/>
          </a:solidFill>
          <a:ln w="12700">
            <a:solidFill>
              <a:srgbClr val="7B1FA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347472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Loan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49440" y="2194560"/>
            <a:ext cx="1828800" cy="59436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21945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Branch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194560" y="1207008"/>
            <a:ext cx="13716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4560" y="2487168"/>
            <a:ext cx="13716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3767328"/>
            <a:ext cx="13716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80160" y="1508760"/>
            <a:ext cx="0" cy="68580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2788920"/>
            <a:ext cx="0" cy="68580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2487168"/>
            <a:ext cx="13716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94560" y="1051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</a:rPr>
              <a:t>owns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19456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</a:rPr>
              <a:t>has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3611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</a:rPr>
              <a:t>applies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0A4AE"/>
                </a:solidFill>
              </a:rPr>
              <a:t>occurs at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0760" y="868680"/>
            <a:ext cx="27889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005840"/>
            <a:ext cx="411480" cy="41148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675120" y="8961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Data Integrity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675120" y="121615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</a:rPr>
              <a:t>PK/FK constraints prevent corrupt data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080760" y="1709928"/>
            <a:ext cx="27889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47088"/>
            <a:ext cx="411480" cy="41148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6675120" y="1737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Security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6675120" y="20574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</a:rPr>
              <a:t>Role-based access control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6080760" y="2551176"/>
            <a:ext cx="27889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688336"/>
            <a:ext cx="411480" cy="4114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675120" y="257860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ACID Transactions</a:t>
            </a:r>
            <a:endParaRPr lang="en-US" sz="1300" dirty="0"/>
          </a:p>
        </p:txBody>
      </p:sp>
      <p:sp>
        <p:nvSpPr>
          <p:cNvPr id="36" name="Text 31"/>
          <p:cNvSpPr/>
          <p:nvPr/>
        </p:nvSpPr>
        <p:spPr>
          <a:xfrm>
            <a:off x="6675120" y="28986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</a:rPr>
              <a:t>Atomic, consistent, isolated, durable</a:t>
            </a:r>
            <a:endParaRPr lang="en-US" sz="1000" dirty="0"/>
          </a:p>
        </p:txBody>
      </p:sp>
      <p:sp>
        <p:nvSpPr>
          <p:cNvPr id="37" name="Shape 32"/>
          <p:cNvSpPr/>
          <p:nvPr/>
        </p:nvSpPr>
        <p:spPr>
          <a:xfrm>
            <a:off x="6080760" y="3392424"/>
            <a:ext cx="27889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3529584"/>
            <a:ext cx="411480" cy="411480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6675120" y="34198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Scalability</a:t>
            </a:r>
            <a:endParaRPr lang="en-US" sz="1300" dirty="0"/>
          </a:p>
        </p:txBody>
      </p:sp>
      <p:sp>
        <p:nvSpPr>
          <p:cNvPr id="40" name="Text 34"/>
          <p:cNvSpPr/>
          <p:nvPr/>
        </p:nvSpPr>
        <p:spPr>
          <a:xfrm>
            <a:off x="6675120" y="37398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</a:rPr>
              <a:t>Handles millions of records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6080760" y="4233672"/>
            <a:ext cx="2788920" cy="73152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4370832"/>
            <a:ext cx="411480" cy="41148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6675120" y="426110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Reduced Redundancy</a:t>
            </a:r>
            <a:endParaRPr lang="en-US" sz="1300" dirty="0"/>
          </a:p>
        </p:txBody>
      </p:sp>
      <p:sp>
        <p:nvSpPr>
          <p:cNvPr id="44" name="Text 37"/>
          <p:cNvSpPr/>
          <p:nvPr/>
        </p:nvSpPr>
        <p:spPr>
          <a:xfrm>
            <a:off x="6675120" y="458114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</a:rPr>
              <a:t>Normalized data storage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WAREHOUSE CONCEPTS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594360"/>
          </a:xfrm>
          <a:prstGeom prst="rect">
            <a:avLst/>
          </a:prstGeom>
          <a:solidFill>
            <a:srgbClr val="E8EAF6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68680"/>
            <a:ext cx="83210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</a:rPr>
              <a:t>Data Warehouse: A centralized repository that stores integrated, historical data from multiple sources — optimized for reporting, querying, and business intelligence (BI).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28600" y="1600200"/>
            <a:ext cx="196596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1600200"/>
            <a:ext cx="1965960" cy="45720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600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Source Systems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1762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6C00"/>
                </a:solidFill>
              </a:rPr>
              <a:t>Core Banking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77063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770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6C00"/>
                </a:solidFill>
              </a:rPr>
              <a:t>ATM Network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6499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649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6C00"/>
                </a:solidFill>
              </a:rPr>
              <a:t>Mobile App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95935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9593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6C00"/>
                </a:solidFill>
              </a:rPr>
              <a:t>Branch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194560" y="2743200"/>
            <a:ext cx="54864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6032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514600" y="1600200"/>
            <a:ext cx="196596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14600" y="1600200"/>
            <a:ext cx="196596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14600" y="1600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ETL Process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651760" y="217627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51760" y="21762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Extract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651760" y="277063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0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Transform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651760" y="336499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33649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Load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651760" y="395935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9593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Validate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480560" y="2743200"/>
            <a:ext cx="54864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▶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800600" y="1600200"/>
            <a:ext cx="196596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800600" y="1600200"/>
            <a:ext cx="19659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1600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Warehouse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937760" y="217627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21762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Fact Tables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937760" y="277063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37760" y="2770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Dim Tables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937760" y="336499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33649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Star Schema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937760" y="395935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37760" y="39593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History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766560" y="2743200"/>
            <a:ext cx="548640" cy="0"/>
          </a:xfrm>
          <a:prstGeom prst="line">
            <a:avLst/>
          </a:prstGeom>
          <a:noFill/>
          <a:ln w="25400">
            <a:solidFill>
              <a:srgbClr val="90A4A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32320" y="2624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</a:rPr>
              <a:t>▶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086600" y="1600200"/>
            <a:ext cx="1965960" cy="32004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086600" y="1600200"/>
            <a:ext cx="1965960" cy="4572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86600" y="16002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Analytics Layer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223760" y="217627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23760" y="217627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A047"/>
                </a:solidFill>
              </a:rPr>
              <a:t>Dashboards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223760" y="277063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23760" y="277063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A047"/>
                </a:solidFill>
              </a:rPr>
              <a:t>Reports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223760" y="336499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223760" y="336499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A047"/>
                </a:solidFill>
              </a:rPr>
              <a:t>KPIs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223760" y="395935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223760" y="3959352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A047"/>
                </a:solidFill>
              </a:rPr>
              <a:t>Forecasts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STAR SCHEMA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795528"/>
            <a:ext cx="5212080" cy="411480"/>
          </a:xfrm>
          <a:prstGeom prst="rect">
            <a:avLst/>
          </a:prstGeom>
          <a:solidFill>
            <a:srgbClr val="E3F2FD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95528"/>
            <a:ext cx="51206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</a:rPr>
              <a:t>One central Fact Table connected directly to multiple Dimension Tables.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0" y="2103120"/>
            <a:ext cx="2377440" cy="128016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210312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FACT_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43000" y="1783080"/>
            <a:ext cx="2514600" cy="96012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5669280" y="1783080"/>
            <a:ext cx="-2011680" cy="96012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143000" y="4069080"/>
            <a:ext cx="2514600" cy="-132588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669280" y="4069080"/>
            <a:ext cx="-2011680" cy="-132588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37160" y="1325880"/>
            <a:ext cx="2011680" cy="914400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554480"/>
            <a:ext cx="411480" cy="41148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85800" y="1490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DIM_CUSTOMER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1325880"/>
            <a:ext cx="2011680" cy="91440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554480"/>
            <a:ext cx="411480" cy="411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212080" y="1490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DIM_ACCOUNT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37160" y="3611880"/>
            <a:ext cx="2011680" cy="914400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384048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" y="3776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DIM_BRANCH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663440" y="3611880"/>
            <a:ext cx="2011680" cy="914400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840480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12080" y="3776472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DIM_DATE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6263640" y="960120"/>
            <a:ext cx="2697480" cy="365760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0"/>
          <p:cNvSpPr/>
          <p:nvPr/>
        </p:nvSpPr>
        <p:spPr>
          <a:xfrm>
            <a:off x="6355080" y="100584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Advantages</a:t>
            </a:r>
            <a:endParaRPr lang="en-US" sz="15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508760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784848" y="15087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</a:rPr>
              <a:t>Simple Structure</a:t>
            </a:r>
            <a:endParaRPr lang="en-US" sz="130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103120"/>
            <a:ext cx="347472" cy="347472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6784848" y="21031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</a:rPr>
              <a:t>Fast Query Performance</a:t>
            </a:r>
            <a:endParaRPr lang="en-US" sz="13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5080" y="2697480"/>
            <a:ext cx="347472" cy="34747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784848" y="269748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</a:rPr>
              <a:t>Easy Report Building</a:t>
            </a:r>
            <a:endParaRPr lang="en-US" sz="1300" dirty="0"/>
          </a:p>
        </p:txBody>
      </p:sp>
      <p:pic>
        <p:nvPicPr>
          <p:cNvPr id="33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291840"/>
            <a:ext cx="347472" cy="347472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784848" y="32918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</a:rPr>
              <a:t>Dashboard Friendly</a:t>
            </a:r>
            <a:endParaRPr lang="en-US" sz="13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3886200"/>
            <a:ext cx="347472" cy="347472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784848" y="388620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37E"/>
                </a:solidFill>
              </a:rPr>
              <a:t>Low Join Complexity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SNOWFLAKE SCHEMA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8595360" cy="438912"/>
          </a:xfrm>
          <a:prstGeom prst="rect">
            <a:avLst/>
          </a:prstGeom>
          <a:solidFill>
            <a:srgbClr val="E8EAF6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41248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</a:rPr>
              <a:t>Normalizes dimension tables into multiple related sub-tables creating hierarchies — reduces redundancy at the cost of more joins.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82880" y="2103120"/>
            <a:ext cx="1691640" cy="8686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" y="21031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FACT_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TRANSACTION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24128" y="2103120"/>
            <a:ext cx="0" cy="-466344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636776"/>
            <a:ext cx="941832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65960" y="1417320"/>
            <a:ext cx="914400" cy="438912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14173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DIM_CUSTOMER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880360" y="1636776"/>
            <a:ext cx="9144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1417320"/>
            <a:ext cx="914400" cy="43891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971800" y="14173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DIM_CITY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886200" y="1636776"/>
            <a:ext cx="9144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7640" y="1417320"/>
            <a:ext cx="914400" cy="438912"/>
          </a:xfrm>
          <a:prstGeom prst="rect">
            <a:avLst/>
          </a:prstGeom>
          <a:solidFill>
            <a:srgbClr val="7986CB"/>
          </a:solidFill>
          <a:ln w="12700">
            <a:solidFill>
              <a:srgbClr val="7986C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977640" y="14173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DIM_STATE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892040" y="1636776"/>
            <a:ext cx="9144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1417320"/>
            <a:ext cx="914400" cy="438912"/>
          </a:xfrm>
          <a:prstGeom prst="rect">
            <a:avLst/>
          </a:prstGeom>
          <a:solidFill>
            <a:srgbClr val="9FA8DA"/>
          </a:solidFill>
          <a:ln w="12700">
            <a:solidFill>
              <a:srgbClr val="9FA8D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83480" y="1417320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DIM_COUNTRY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874520" y="2578608"/>
            <a:ext cx="9144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65960" y="2359152"/>
            <a:ext cx="914400" cy="43891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965960" y="235915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DIM_ACCOUNT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880360" y="2578608"/>
            <a:ext cx="9144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71800" y="2359152"/>
            <a:ext cx="914400" cy="438912"/>
          </a:xfrm>
          <a:prstGeom prst="rect">
            <a:avLst/>
          </a:prstGeom>
          <a:solidFill>
            <a:srgbClr val="00838F"/>
          </a:solidFill>
          <a:ln w="12700">
            <a:solidFill>
              <a:srgbClr val="00838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971800" y="2359152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DIM_ACCT_TYPE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1024128" y="2971800"/>
            <a:ext cx="0" cy="557784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24128" y="3529584"/>
            <a:ext cx="941832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65960" y="3310128"/>
            <a:ext cx="914400" cy="438912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965960" y="33101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DIM_BRANCH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880360" y="3529584"/>
            <a:ext cx="9144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971800" y="3310128"/>
            <a:ext cx="914400" cy="438912"/>
          </a:xfrm>
          <a:prstGeom prst="rect">
            <a:avLst/>
          </a:prstGeom>
          <a:solidFill>
            <a:srgbClr val="F4511E"/>
          </a:solidFill>
          <a:ln w="12700">
            <a:solidFill>
              <a:srgbClr val="F4511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971800" y="3310128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DIM_REGION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0" y="1399032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0A4AE"/>
                </a:solidFill>
              </a:rPr>
              <a:t>Customer</a:t>
            </a:r>
            <a:endParaRPr lang="en-US" sz="750" dirty="0"/>
          </a:p>
          <a:p>
            <a:pPr algn="r" indent="0" marL="0">
              <a:buNone/>
            </a:pPr>
            <a:r>
              <a:rPr lang="en-US" sz="750" i="1" dirty="0">
                <a:solidFill>
                  <a:srgbClr val="90A4AE"/>
                </a:solidFill>
              </a:rPr>
              <a:t>Hierarchy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0" y="2340864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0A4AE"/>
                </a:solidFill>
              </a:rPr>
              <a:t>Account</a:t>
            </a:r>
            <a:endParaRPr lang="en-US" sz="750" dirty="0"/>
          </a:p>
          <a:p>
            <a:pPr algn="r" indent="0" marL="0">
              <a:buNone/>
            </a:pPr>
            <a:r>
              <a:rPr lang="en-US" sz="750" i="1" dirty="0">
                <a:solidFill>
                  <a:srgbClr val="90A4AE"/>
                </a:solidFill>
              </a:rPr>
              <a:t>Hierarchy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0" y="3291840"/>
            <a:ext cx="6583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90A4AE"/>
                </a:solidFill>
              </a:rPr>
              <a:t>Branch</a:t>
            </a:r>
            <a:endParaRPr lang="en-US" sz="750" dirty="0"/>
          </a:p>
          <a:p>
            <a:pPr algn="r" indent="0" marL="0">
              <a:buNone/>
            </a:pPr>
            <a:r>
              <a:rPr lang="en-US" sz="750" i="1" dirty="0">
                <a:solidFill>
                  <a:srgbClr val="90A4AE"/>
                </a:solidFill>
              </a:rPr>
              <a:t>Hierarchy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943600" y="1417320"/>
            <a:ext cx="2926080" cy="356616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080760" y="1481328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3A047"/>
                </a:solidFill>
              </a:rPr>
              <a:t>✔  Pros</a:t>
            </a:r>
            <a:endParaRPr lang="en-US" sz="1400" dirty="0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80760" y="1947672"/>
            <a:ext cx="274320" cy="274320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6428232" y="192938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Less data redundancy</a:t>
            </a:r>
            <a:endParaRPr lang="en-US" sz="1200" dirty="0"/>
          </a:p>
        </p:txBody>
      </p:sp>
      <p:pic>
        <p:nvPicPr>
          <p:cNvPr id="4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313432"/>
            <a:ext cx="274320" cy="274320"/>
          </a:xfrm>
          <a:prstGeom prst="rect">
            <a:avLst/>
          </a:prstGeom>
        </p:spPr>
      </p:pic>
      <p:sp>
        <p:nvSpPr>
          <p:cNvPr id="43" name="Text 39"/>
          <p:cNvSpPr/>
          <p:nvPr/>
        </p:nvSpPr>
        <p:spPr>
          <a:xfrm>
            <a:off x="6428232" y="229514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Better storage efficiency</a:t>
            </a:r>
            <a:endParaRPr lang="en-US" sz="1200" dirty="0"/>
          </a:p>
        </p:txBody>
      </p:sp>
      <p:pic>
        <p:nvPicPr>
          <p:cNvPr id="4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679192"/>
            <a:ext cx="274320" cy="27432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6428232" y="266090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High normalization</a:t>
            </a:r>
            <a:endParaRPr lang="en-US" sz="1200" dirty="0"/>
          </a:p>
        </p:txBody>
      </p:sp>
      <p:pic>
        <p:nvPicPr>
          <p:cNvPr id="4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044952"/>
            <a:ext cx="274320" cy="274320"/>
          </a:xfrm>
          <a:prstGeom prst="rect">
            <a:avLst/>
          </a:prstGeom>
        </p:spPr>
      </p:pic>
      <p:sp>
        <p:nvSpPr>
          <p:cNvPr id="47" name="Text 41"/>
          <p:cNvSpPr/>
          <p:nvPr/>
        </p:nvSpPr>
        <p:spPr>
          <a:xfrm>
            <a:off x="6428232" y="3026664"/>
            <a:ext cx="23591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37E"/>
                </a:solidFill>
              </a:rPr>
              <a:t>Accurate data hierarchy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6080760" y="3465576"/>
            <a:ext cx="2651760" cy="36576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080760" y="355701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</a:rPr>
              <a:t>✖  Cons</a:t>
            </a:r>
            <a:endParaRPr lang="en-US" sz="1400" dirty="0"/>
          </a:p>
        </p:txBody>
      </p:sp>
      <p:sp>
        <p:nvSpPr>
          <p:cNvPr id="50" name="Text 44"/>
          <p:cNvSpPr/>
          <p:nvPr/>
        </p:nvSpPr>
        <p:spPr>
          <a:xfrm>
            <a:off x="6080760" y="39959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2828"/>
                </a:solidFill>
              </a:rPr>
              <a:t>✗  More complex joins</a:t>
            </a:r>
            <a:endParaRPr lang="en-US" sz="1150" dirty="0"/>
          </a:p>
        </p:txBody>
      </p:sp>
      <p:sp>
        <p:nvSpPr>
          <p:cNvPr id="51" name="Text 45"/>
          <p:cNvSpPr/>
          <p:nvPr/>
        </p:nvSpPr>
        <p:spPr>
          <a:xfrm>
            <a:off x="6080760" y="430682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2828"/>
                </a:solidFill>
              </a:rPr>
              <a:t>✗  Slower query speed</a:t>
            </a:r>
            <a:endParaRPr lang="en-US" sz="1150" dirty="0"/>
          </a:p>
        </p:txBody>
      </p:sp>
      <p:sp>
        <p:nvSpPr>
          <p:cNvPr id="52" name="Text 46"/>
          <p:cNvSpPr/>
          <p:nvPr/>
        </p:nvSpPr>
        <p:spPr>
          <a:xfrm>
            <a:off x="6080760" y="461772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2828"/>
                </a:solidFill>
              </a:rPr>
              <a:t>✗  Harder to maintain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STAR SCHEMA vs SNOWFLAKE SCHEMA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560320" y="822960"/>
            <a:ext cx="2743200" cy="502920"/>
          </a:xfrm>
          <a:prstGeom prst="rect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60320" y="822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⭐ Star Schema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40680" y="822960"/>
            <a:ext cx="274320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40680" y="8229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❄ Snowflake Schema  ✦ Recommended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417320"/>
            <a:ext cx="8686800" cy="512064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417320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Complexity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560320" y="141732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Simple, denormalized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40680" y="141732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Complex, fully normalized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1965960"/>
            <a:ext cx="8686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65960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Performance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560320" y="196596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Faster query execution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196596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Slower (more joins required)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514600"/>
            <a:ext cx="8686800" cy="512064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514600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Storage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2560320" y="251460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Higher storage usage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251460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Lower storage (no redundancy)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" y="3063240"/>
            <a:ext cx="8686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63240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Maintenance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2560320" y="306324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Easy to maintain &amp; extend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306324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Complex maintenance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8600" y="3611880"/>
            <a:ext cx="8686800" cy="512064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611880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No. of Joins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2560320" y="361188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Fewer joins needed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40680" y="361188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Many joins required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4160520"/>
            <a:ext cx="868680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160520"/>
            <a:ext cx="219456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Best For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560320" y="416052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</a:rPr>
              <a:t>Dashboards &amp; BI reporting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40680" y="4160520"/>
            <a:ext cx="2743200" cy="51206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Data warehouse archival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28600" y="4663440"/>
            <a:ext cx="8686800" cy="32004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466344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</a:rPr>
              <a:t>🏆  RECOMMENDED FOR FINCORE SPRINT 1:  Snowflake Schema  — Less redundancy, better storage efficiency, normalized design.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FACT AND DIMENSION TABLES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91840" y="1417320"/>
            <a:ext cx="2560320" cy="3429000"/>
          </a:xfrm>
          <a:prstGeom prst="rect">
            <a:avLst/>
          </a:prstGeom>
          <a:solidFill>
            <a:srgbClr val="1565C0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91840" y="1463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FACT TABLE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Fact_Transaction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64992" y="2212848"/>
            <a:ext cx="2414016" cy="274320"/>
          </a:xfrm>
          <a:prstGeom prst="rect">
            <a:avLst/>
          </a:prstGeom>
          <a:solidFill>
            <a:srgbClr val="0D47A1"/>
          </a:solidFill>
          <a:ln w="12700">
            <a:solidFill>
              <a:srgbClr val="0D47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64992" y="2212848"/>
            <a:ext cx="241401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transaction_id (PK)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64992" y="2532888"/>
            <a:ext cx="2414016" cy="2743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64992" y="2532888"/>
            <a:ext cx="241401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customer_id (FK)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64992" y="2852928"/>
            <a:ext cx="2414016" cy="2743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64992" y="2852928"/>
            <a:ext cx="241401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account_id (FK)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64992" y="3172968"/>
            <a:ext cx="2414016" cy="2743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4992" y="3172968"/>
            <a:ext cx="241401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branch_id (FK)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64992" y="3493008"/>
            <a:ext cx="2414016" cy="274320"/>
          </a:xfrm>
          <a:prstGeom prst="rect">
            <a:avLst/>
          </a:prstGeom>
          <a:solidFill>
            <a:srgbClr val="1976D2"/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64992" y="3493008"/>
            <a:ext cx="241401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date_id (FK)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64992" y="3813048"/>
            <a:ext cx="2414016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64992" y="3813048"/>
            <a:ext cx="241401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amount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64992" y="4133088"/>
            <a:ext cx="2414016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64992" y="4133088"/>
            <a:ext cx="241401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transaction_type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64992" y="4453128"/>
            <a:ext cx="2414016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64992" y="4453128"/>
            <a:ext cx="2414016" cy="27432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balance_after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82880" y="1097280"/>
            <a:ext cx="265176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182880" y="1097280"/>
            <a:ext cx="2651760" cy="384048"/>
          </a:xfrm>
          <a:prstGeom prst="rect">
            <a:avLst/>
          </a:prstGeom>
          <a:solidFill>
            <a:srgbClr val="1E88E5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2880" y="1097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Dim_Customer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28600" y="153619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88E5"/>
                </a:solidFill>
              </a:rPr>
              <a:t xml:space="preserve">  customer_id (PK)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28600" y="17830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 xml:space="preserve">  name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28600" y="20299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 xml:space="preserve">  email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28600" y="227685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 xml:space="preserve">  phone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28600" y="252374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 xml:space="preserve">  address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834640" y="1920240"/>
            <a:ext cx="4572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182880" y="3291840"/>
            <a:ext cx="265176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82880" y="3291840"/>
            <a:ext cx="265176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82880" y="3291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Dim_Date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28600" y="37307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3A047"/>
                </a:solidFill>
              </a:rPr>
              <a:t xml:space="preserve">  date_id (PK)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28600" y="39776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 xml:space="preserve">  date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28600" y="42245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 xml:space="preserve">  month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28600" y="447141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 xml:space="preserve">  quarter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28600" y="471830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 xml:space="preserve">  year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834640" y="4114800"/>
            <a:ext cx="4572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6309360" y="1097280"/>
            <a:ext cx="265176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309360" y="1097280"/>
            <a:ext cx="2651760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9360" y="109728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Dim_Account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355080" y="153619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</a:rPr>
              <a:t xml:space="preserve">  account_id (PK)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6355080" y="178308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 xml:space="preserve">  account_no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55080" y="202996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 xml:space="preserve">  type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355080" y="227685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 xml:space="preserve">  open_date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355080" y="252374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 xml:space="preserve">  status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5852160" y="1920240"/>
            <a:ext cx="4572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  <p:sp>
        <p:nvSpPr>
          <p:cNvPr id="50" name="Shape 48"/>
          <p:cNvSpPr/>
          <p:nvPr/>
        </p:nvSpPr>
        <p:spPr>
          <a:xfrm>
            <a:off x="6309360" y="3291840"/>
            <a:ext cx="265176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09360" y="3291840"/>
            <a:ext cx="2651760" cy="384048"/>
          </a:xfrm>
          <a:prstGeom prst="rect">
            <a:avLst/>
          </a:prstGeom>
          <a:solidFill>
            <a:srgbClr val="EF6C00"/>
          </a:solidFill>
          <a:ln w="12700">
            <a:solidFill>
              <a:srgbClr val="EF6C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3291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Dim_Branch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355080" y="3730752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6C00"/>
                </a:solidFill>
              </a:rPr>
              <a:t xml:space="preserve">  branch_id (PK)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355080" y="3977640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 xml:space="preserve">  branch_name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55080" y="4224528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 xml:space="preserve">  city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6355080" y="4471416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 xml:space="preserve">  manager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355080" y="4718304"/>
            <a:ext cx="2560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7E"/>
                </a:solidFill>
              </a:rPr>
              <a:t xml:space="preserve">  region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5852160" y="4114800"/>
            <a:ext cx="457200" cy="0"/>
          </a:xfrm>
          <a:prstGeom prst="line">
            <a:avLst/>
          </a:prstGeom>
          <a:noFill/>
          <a:ln w="19050">
            <a:solidFill>
              <a:srgbClr val="90A4AE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545"/>
          </a:solidFill>
          <a:ln w="12700">
            <a:solidFill>
              <a:srgbClr val="0D1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FINCORE BANKING DATA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108960" y="1783080"/>
            <a:ext cx="2926080" cy="1417320"/>
          </a:xfrm>
          <a:prstGeom prst="ellipse">
            <a:avLst/>
          </a:prstGeom>
          <a:solidFill>
            <a:srgbClr val="1E88E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108960" y="178308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FACT_TRANSACTION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transaction_id · amount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customer_id · account_id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branch_id · date_id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103120" y="1508760"/>
            <a:ext cx="2468880" cy="978408"/>
          </a:xfrm>
          <a:prstGeom prst="line">
            <a:avLst/>
          </a:prstGeom>
          <a:noFill/>
          <a:ln w="19050">
            <a:solidFill>
              <a:srgbClr val="4FC3F7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949440" y="1508760"/>
            <a:ext cx="-2377440" cy="978408"/>
          </a:xfrm>
          <a:prstGeom prst="line">
            <a:avLst/>
          </a:prstGeom>
          <a:noFill/>
          <a:ln w="19050">
            <a:solidFill>
              <a:srgbClr val="4FC3F7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103120" y="3977640"/>
            <a:ext cx="2468880" cy="-1490472"/>
          </a:xfrm>
          <a:prstGeom prst="line">
            <a:avLst/>
          </a:prstGeom>
          <a:noFill/>
          <a:ln w="19050">
            <a:solidFill>
              <a:srgbClr val="4FC3F7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949440" y="3977640"/>
            <a:ext cx="-2377440" cy="-1490472"/>
          </a:xfrm>
          <a:prstGeom prst="line">
            <a:avLst/>
          </a:prstGeom>
          <a:noFill/>
          <a:ln w="19050">
            <a:solidFill>
              <a:srgbClr val="4FC3F7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182880" y="868680"/>
            <a:ext cx="1828800" cy="1188720"/>
          </a:xfrm>
          <a:prstGeom prst="rect">
            <a:avLst/>
          </a:prstGeom>
          <a:solidFill>
            <a:srgbClr val="1A237E"/>
          </a:solidFill>
          <a:ln w="12700">
            <a:solidFill>
              <a:srgbClr val="3949A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005840"/>
            <a:ext cx="384048" cy="3840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1005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DIM_CUSTOMER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7432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customer_id (PK)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name · email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phone · address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949440" y="868680"/>
            <a:ext cx="1828800" cy="1188720"/>
          </a:xfrm>
          <a:prstGeom prst="rect">
            <a:avLst/>
          </a:prstGeom>
          <a:solidFill>
            <a:srgbClr val="004D40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005840"/>
            <a:ext cx="384048" cy="38404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43800" y="10058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DIM_ACCOUNT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7040880" y="146304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account_id (PK)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account_no · 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open_date · status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182880" y="3520440"/>
            <a:ext cx="1828800" cy="1188720"/>
          </a:xfrm>
          <a:prstGeom prst="rect">
            <a:avLst/>
          </a:prstGeom>
          <a:solidFill>
            <a:srgbClr val="BF360C"/>
          </a:solidFill>
          <a:ln w="12700">
            <a:solidFill>
              <a:srgbClr val="E64A1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657600"/>
            <a:ext cx="384048" cy="38404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77240" y="36576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DIM_BRANCH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274320" y="4114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branch_id (PK)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branch_name · city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manager · region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949440" y="3520440"/>
            <a:ext cx="1828800" cy="1188720"/>
          </a:xfrm>
          <a:prstGeom prst="rect">
            <a:avLst/>
          </a:prstGeom>
          <a:solidFill>
            <a:srgbClr val="1B5E20"/>
          </a:solidFill>
          <a:ln w="12700">
            <a:solidFill>
              <a:srgbClr val="2E7D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365760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43800" y="365760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DIM_DATE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040880" y="41148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date_id (PK)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date · month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</a:rPr>
              <a:t>quarter · year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474720" y="4480560"/>
            <a:ext cx="2194560" cy="411480"/>
          </a:xfrm>
          <a:prstGeom prst="rect">
            <a:avLst/>
          </a:prstGeom>
          <a:solidFill>
            <a:srgbClr val="0D1545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3520440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3F7"/>
                </a:solidFill>
              </a:rPr>
              <a:t>-- -  Foreign Key Relationships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JUSTIFICATION OF SELECTED DESIGN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22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Criteria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926080" y="8229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0A4AE"/>
                </a:solidFill>
              </a:rPr>
              <a:t>⭐ Star Schema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257800" y="8229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54F"/>
                </a:solidFill>
              </a:rPr>
              <a:t>❄ Snowflake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0" y="8229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Reason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371600"/>
            <a:ext cx="8595360" cy="484632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371600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Query Performance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017520" y="1499616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64992" y="1499616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12464" y="1499616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59936" y="1499616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1499616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49240" y="149961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23560" y="149961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149961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72200" y="149961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1499616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0" y="1371600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</a:rPr>
              <a:t>Normalized queries are optimized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1901952"/>
            <a:ext cx="85953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01952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Implementation Speed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017520" y="2029968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364992" y="2029968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12464" y="2029968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59936" y="2029968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07408" y="2029968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9240" y="2029968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23560" y="2029968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029968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0" y="2029968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2029968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1901952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</a:rPr>
              <a:t>Structured hierarchy is clear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2432304"/>
            <a:ext cx="8595360" cy="484632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432304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Maintainability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017520" y="2560320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364992" y="2560320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12464" y="2560320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59936" y="2560320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07408" y="2560320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349240" y="256032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623560" y="256032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897880" y="256032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72200" y="256032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46520" y="2560320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0" y="2432304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</a:rPr>
              <a:t>Normalized = easier updates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2962656"/>
            <a:ext cx="859536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2962656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Storage Efficiency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3017520" y="3090672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64992" y="3090672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712464" y="3090672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59936" y="3090672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407408" y="3090672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349240" y="3090672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623560" y="3090672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897880" y="3090672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72200" y="3090672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46520" y="3090672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0" y="2962656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</a:rPr>
              <a:t>Normalized = smaller DB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3493008"/>
            <a:ext cx="8595360" cy="484632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3493008"/>
            <a:ext cx="246888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Reporting Simplicity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3017520" y="3621024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364992" y="3621024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712464" y="3621024"/>
            <a:ext cx="228600" cy="228600"/>
          </a:xfrm>
          <a:prstGeom prst="ellipse">
            <a:avLst/>
          </a:prstGeom>
          <a:solidFill>
            <a:srgbClr val="90A4AE"/>
          </a:solidFill>
          <a:ln w="12700">
            <a:solidFill>
              <a:srgbClr val="90A4A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059936" y="3621024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407408" y="3621024"/>
            <a:ext cx="228600" cy="228600"/>
          </a:xfrm>
          <a:prstGeom prst="ellipse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49240" y="3621024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623560" y="3621024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897880" y="3621024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172200" y="3621024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446520" y="3621024"/>
            <a:ext cx="201168" cy="201168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132320" y="3493008"/>
            <a:ext cx="169164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7E"/>
                </a:solidFill>
              </a:rPr>
              <a:t>Structured dimensions aid BI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274320" y="4114800"/>
            <a:ext cx="8595360" cy="77724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7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224528"/>
            <a:ext cx="548640" cy="548640"/>
          </a:xfrm>
          <a:prstGeom prst="rect">
            <a:avLst/>
          </a:prstGeom>
        </p:spPr>
      </p:pic>
      <p:sp>
        <p:nvSpPr>
          <p:cNvPr id="77" name="Text 74"/>
          <p:cNvSpPr/>
          <p:nvPr/>
        </p:nvSpPr>
        <p:spPr>
          <a:xfrm>
            <a:off x="1051560" y="4114800"/>
            <a:ext cx="772668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565C0"/>
                </a:solidFill>
              </a:rPr>
              <a:t>Snowflake Schema Selected — Best fit for FinCoreBank: normalized design, reduced redundancy, better storage efficiency, and structured hierarchy for banking data.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SPRINT 1 OUTCOMES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697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269748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2412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417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SQL Fundamentals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65760" y="1965960"/>
            <a:ext cx="2514600" cy="164592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1965960"/>
            <a:ext cx="2514600" cy="16459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21671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3A047"/>
                </a:solidFill>
              </a:rPr>
              <a:t>100%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154680" y="960120"/>
            <a:ext cx="2697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960120"/>
            <a:ext cx="269748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02412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6616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COMPLETED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246120" y="1417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DBMS vs RDBMS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3246120" y="1965960"/>
            <a:ext cx="2514600" cy="164592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246120" y="1965960"/>
            <a:ext cx="2514600" cy="16459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246120" y="21671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3A047"/>
                </a:solidFill>
              </a:rPr>
              <a:t>100%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035040" y="960120"/>
            <a:ext cx="2697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035040" y="960120"/>
            <a:ext cx="2697480" cy="384048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24128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446520" y="1005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COMPLETED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126480" y="14173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Data Warehouse Concepts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6126480" y="1965960"/>
            <a:ext cx="2514600" cy="164592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126480" y="1965960"/>
            <a:ext cx="2514600" cy="164592"/>
          </a:xfrm>
          <a:prstGeom prst="rect">
            <a:avLst/>
          </a:prstGeom>
          <a:solidFill>
            <a:srgbClr val="43A047"/>
          </a:solidFill>
          <a:ln w="12700">
            <a:solidFill>
              <a:srgbClr val="43A047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126480" y="21671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3A047"/>
                </a:solidFill>
              </a:rPr>
              <a:t>100%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274320" y="2926080"/>
            <a:ext cx="2697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274320" y="2926080"/>
            <a:ext cx="26974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990088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8580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COMPLETED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36576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Snowflake Schema Design</a:t>
            </a:r>
            <a:endParaRPr lang="en-US" sz="1350" dirty="0"/>
          </a:p>
        </p:txBody>
      </p:sp>
      <p:sp>
        <p:nvSpPr>
          <p:cNvPr id="34" name="Shape 28"/>
          <p:cNvSpPr/>
          <p:nvPr/>
        </p:nvSpPr>
        <p:spPr>
          <a:xfrm>
            <a:off x="365760" y="3931920"/>
            <a:ext cx="2514600" cy="164592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65760" y="3931920"/>
            <a:ext cx="25146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65760" y="41330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100%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3154680" y="2926080"/>
            <a:ext cx="2697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2"/>
          <p:cNvSpPr/>
          <p:nvPr/>
        </p:nvSpPr>
        <p:spPr>
          <a:xfrm>
            <a:off x="3154680" y="2926080"/>
            <a:ext cx="2697480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2990088"/>
            <a:ext cx="256032" cy="256032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56616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COMPLETED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324612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Star Schema Analysis</a:t>
            </a:r>
            <a:endParaRPr lang="en-US" sz="1350" dirty="0"/>
          </a:p>
        </p:txBody>
      </p:sp>
      <p:sp>
        <p:nvSpPr>
          <p:cNvPr id="42" name="Shape 35"/>
          <p:cNvSpPr/>
          <p:nvPr/>
        </p:nvSpPr>
        <p:spPr>
          <a:xfrm>
            <a:off x="3246120" y="3931920"/>
            <a:ext cx="2514600" cy="164592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3246120" y="3931920"/>
            <a:ext cx="2514600" cy="16459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4" name="Text 37"/>
          <p:cNvSpPr/>
          <p:nvPr/>
        </p:nvSpPr>
        <p:spPr>
          <a:xfrm>
            <a:off x="3246120" y="41330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565C0"/>
                </a:solidFill>
              </a:rPr>
              <a:t>100%</a:t>
            </a:r>
            <a:endParaRPr lang="en-US" sz="1200" dirty="0"/>
          </a:p>
        </p:txBody>
      </p:sp>
      <p:sp>
        <p:nvSpPr>
          <p:cNvPr id="45" name="Shape 38"/>
          <p:cNvSpPr/>
          <p:nvPr/>
        </p:nvSpPr>
        <p:spPr>
          <a:xfrm>
            <a:off x="6035040" y="2926080"/>
            <a:ext cx="2697480" cy="1691640"/>
          </a:xfrm>
          <a:prstGeom prst="rect">
            <a:avLst/>
          </a:prstGeom>
          <a:solidFill>
            <a:srgbClr val="F0F4F8"/>
          </a:solidFill>
          <a:ln w="12700">
            <a:solidFill>
              <a:srgbClr val="E3EA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Shape 39"/>
          <p:cNvSpPr/>
          <p:nvPr/>
        </p:nvSpPr>
        <p:spPr>
          <a:xfrm>
            <a:off x="6035040" y="2926080"/>
            <a:ext cx="2697480" cy="38404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2990088"/>
            <a:ext cx="256032" cy="256032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446520" y="2971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COMPLETED</a:t>
            </a:r>
            <a:endParaRPr lang="en-US" sz="1100" dirty="0"/>
          </a:p>
        </p:txBody>
      </p:sp>
      <p:sp>
        <p:nvSpPr>
          <p:cNvPr id="49" name="Text 41"/>
          <p:cNvSpPr/>
          <p:nvPr/>
        </p:nvSpPr>
        <p:spPr>
          <a:xfrm>
            <a:off x="6126480" y="338328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</a:rPr>
              <a:t>Fact &amp; Dimension Modeling</a:t>
            </a:r>
            <a:endParaRPr lang="en-US" sz="1350" dirty="0"/>
          </a:p>
        </p:txBody>
      </p:sp>
      <p:sp>
        <p:nvSpPr>
          <p:cNvPr id="50" name="Shape 42"/>
          <p:cNvSpPr/>
          <p:nvPr/>
        </p:nvSpPr>
        <p:spPr>
          <a:xfrm>
            <a:off x="6126480" y="3931920"/>
            <a:ext cx="2514600" cy="164592"/>
          </a:xfrm>
          <a:prstGeom prst="rect">
            <a:avLst/>
          </a:prstGeom>
          <a:solidFill>
            <a:srgbClr val="E3EAF4"/>
          </a:solidFill>
          <a:ln w="12700">
            <a:solidFill>
              <a:srgbClr val="E3EAF4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6126480" y="3931920"/>
            <a:ext cx="2514600" cy="164592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6126480" y="413308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0BCD4"/>
                </a:solidFill>
              </a:rPr>
              <a:t>100%</a:t>
            </a:r>
            <a:endParaRPr lang="en-US" sz="1200" dirty="0"/>
          </a:p>
        </p:txBody>
      </p:sp>
      <p:sp>
        <p:nvSpPr>
          <p:cNvPr id="53" name="Shape 45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54F"/>
                </a:solidFill>
              </a:rPr>
              <a:t>✅  All 6 Sprint 1 objectives completed successfully  •  100% Sprint Velocity Achieved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545"/>
          </a:solidFill>
          <a:ln w="12700">
            <a:solidFill>
              <a:srgbClr val="0D1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CONCLUSION &amp; NEXT SPRINT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023360" cy="4023360"/>
          </a:xfrm>
          <a:prstGeom prst="rect">
            <a:avLst/>
          </a:prstGeom>
          <a:solidFill>
            <a:srgbClr val="0D1545"/>
          </a:solidFill>
          <a:ln w="12700">
            <a:solidFill>
              <a:srgbClr val="1A27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1440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D54F"/>
                </a:solidFill>
              </a:rPr>
              <a:t>Sprint 1 Achievements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44475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Database foundation fully established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98424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22960" y="1965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RDBMS selected with clear justification</a:t>
            </a:r>
            <a:endParaRPr lang="en-US" sz="13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05456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22960" y="248716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Analytical data model designed (Snowflake Schema)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026664"/>
            <a:ext cx="329184" cy="32918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22960" y="3008376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Banking entity relationships mapped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547872"/>
            <a:ext cx="329184" cy="32918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960" y="3529584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Fact &amp; Dimension tables defined</a:t>
            </a:r>
            <a:endParaRPr lang="en-US" sz="13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069080"/>
            <a:ext cx="329184" cy="32918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22960" y="4050792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Ready for Sprint 2 implementation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4572000" y="868680"/>
            <a:ext cx="4297680" cy="4023360"/>
          </a:xfrm>
          <a:prstGeom prst="rect">
            <a:avLst/>
          </a:prstGeom>
          <a:solidFill>
            <a:srgbClr val="0A2A4A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2"/>
          <p:cNvSpPr/>
          <p:nvPr/>
        </p:nvSpPr>
        <p:spPr>
          <a:xfrm>
            <a:off x="4709160" y="91440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CD4"/>
                </a:solidFill>
              </a:rPr>
              <a:t>Sprint 2 Focus</a:t>
            </a:r>
            <a:endParaRPr lang="en-US" sz="1600" dirty="0"/>
          </a:p>
        </p:txBody>
      </p:sp>
      <p:sp>
        <p:nvSpPr>
          <p:cNvPr id="21" name="Shape 13"/>
          <p:cNvSpPr/>
          <p:nvPr/>
        </p:nvSpPr>
        <p:spPr>
          <a:xfrm>
            <a:off x="4663440" y="1463040"/>
            <a:ext cx="4069080" cy="530352"/>
          </a:xfrm>
          <a:prstGeom prst="rect">
            <a:avLst/>
          </a:prstGeom>
          <a:solidFill>
            <a:srgbClr val="0D1D35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4663440" y="1463040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A5F5"/>
                </a:solidFill>
              </a:rPr>
              <a:t>1</a:t>
            </a:r>
            <a:endParaRPr lang="en-US" sz="16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1536192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577840" y="1508760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ER Diagram Design</a:t>
            </a:r>
            <a:endParaRPr lang="en-US" sz="1350" dirty="0"/>
          </a:p>
        </p:txBody>
      </p:sp>
      <p:sp>
        <p:nvSpPr>
          <p:cNvPr id="25" name="Shape 16"/>
          <p:cNvSpPr/>
          <p:nvPr/>
        </p:nvSpPr>
        <p:spPr>
          <a:xfrm>
            <a:off x="4663440" y="2084832"/>
            <a:ext cx="4069080" cy="530352"/>
          </a:xfrm>
          <a:prstGeom prst="rect">
            <a:avLst/>
          </a:prstGeom>
          <a:solidFill>
            <a:srgbClr val="0D1D35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26" name="Text 17"/>
          <p:cNvSpPr/>
          <p:nvPr/>
        </p:nvSpPr>
        <p:spPr>
          <a:xfrm>
            <a:off x="4663440" y="2084832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A5F5"/>
                </a:solidFill>
              </a:rPr>
              <a:t>2</a:t>
            </a:r>
            <a:endParaRPr lang="en-US" sz="16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2157984"/>
            <a:ext cx="347472" cy="34747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5577840" y="213055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Database Implementation</a:t>
            </a:r>
            <a:endParaRPr lang="en-US" sz="1350" dirty="0"/>
          </a:p>
        </p:txBody>
      </p:sp>
      <p:sp>
        <p:nvSpPr>
          <p:cNvPr id="29" name="Shape 19"/>
          <p:cNvSpPr/>
          <p:nvPr/>
        </p:nvSpPr>
        <p:spPr>
          <a:xfrm>
            <a:off x="4663440" y="2706624"/>
            <a:ext cx="4069080" cy="530352"/>
          </a:xfrm>
          <a:prstGeom prst="rect">
            <a:avLst/>
          </a:prstGeom>
          <a:solidFill>
            <a:srgbClr val="0D1D35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0" name="Text 20"/>
          <p:cNvSpPr/>
          <p:nvPr/>
        </p:nvSpPr>
        <p:spPr>
          <a:xfrm>
            <a:off x="4663440" y="2706624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A5F5"/>
                </a:solidFill>
              </a:rPr>
              <a:t>3</a:t>
            </a:r>
            <a:endParaRPr lang="en-US" sz="16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2779776"/>
            <a:ext cx="347472" cy="347472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5577840" y="275234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Customer Module APIs</a:t>
            </a:r>
            <a:endParaRPr lang="en-US" sz="1350" dirty="0"/>
          </a:p>
        </p:txBody>
      </p:sp>
      <p:sp>
        <p:nvSpPr>
          <p:cNvPr id="33" name="Shape 22"/>
          <p:cNvSpPr/>
          <p:nvPr/>
        </p:nvSpPr>
        <p:spPr>
          <a:xfrm>
            <a:off x="4663440" y="3328416"/>
            <a:ext cx="4069080" cy="530352"/>
          </a:xfrm>
          <a:prstGeom prst="rect">
            <a:avLst/>
          </a:prstGeom>
          <a:solidFill>
            <a:srgbClr val="0D1D35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4" name="Text 23"/>
          <p:cNvSpPr/>
          <p:nvPr/>
        </p:nvSpPr>
        <p:spPr>
          <a:xfrm>
            <a:off x="4663440" y="3328416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A5F5"/>
                </a:solidFill>
              </a:rPr>
              <a:t>4</a:t>
            </a:r>
            <a:endParaRPr lang="en-US" sz="1600" dirty="0"/>
          </a:p>
        </p:txBody>
      </p:sp>
      <p:pic>
        <p:nvPicPr>
          <p:cNvPr id="35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20640" y="3401568"/>
            <a:ext cx="347472" cy="347472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577840" y="3374136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Authentication APIs (JWT)</a:t>
            </a:r>
            <a:endParaRPr lang="en-US" sz="1350" dirty="0"/>
          </a:p>
        </p:txBody>
      </p:sp>
      <p:sp>
        <p:nvSpPr>
          <p:cNvPr id="37" name="Shape 25"/>
          <p:cNvSpPr/>
          <p:nvPr/>
        </p:nvSpPr>
        <p:spPr>
          <a:xfrm>
            <a:off x="4663440" y="3950208"/>
            <a:ext cx="4069080" cy="530352"/>
          </a:xfrm>
          <a:prstGeom prst="rect">
            <a:avLst/>
          </a:prstGeom>
          <a:solidFill>
            <a:srgbClr val="0D1D35"/>
          </a:solidFill>
          <a:ln w="12700">
            <a:solidFill>
              <a:srgbClr val="1A3A5A"/>
            </a:solidFill>
            <a:prstDash val="solid"/>
          </a:ln>
        </p:spPr>
      </p:sp>
      <p:sp>
        <p:nvSpPr>
          <p:cNvPr id="38" name="Text 26"/>
          <p:cNvSpPr/>
          <p:nvPr/>
        </p:nvSpPr>
        <p:spPr>
          <a:xfrm>
            <a:off x="4663440" y="3950208"/>
            <a:ext cx="3840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2A5F5"/>
                </a:solidFill>
              </a:rPr>
              <a:t>5</a:t>
            </a:r>
            <a:endParaRPr lang="en-US" sz="1600" dirty="0"/>
          </a:p>
        </p:txBody>
      </p:sp>
      <p:pic>
        <p:nvPicPr>
          <p:cNvPr id="39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20640" y="4023360"/>
            <a:ext cx="347472" cy="347472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5577840" y="399592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</a:rPr>
              <a:t>Account Management APIs</a:t>
            </a:r>
            <a:endParaRPr lang="en-US" sz="1350" dirty="0"/>
          </a:p>
        </p:txBody>
      </p:sp>
      <p:sp>
        <p:nvSpPr>
          <p:cNvPr id="41" name="Shape 28"/>
          <p:cNvSpPr/>
          <p:nvPr/>
        </p:nvSpPr>
        <p:spPr>
          <a:xfrm>
            <a:off x="4315968" y="2834640"/>
            <a:ext cx="256032" cy="0"/>
          </a:xfrm>
          <a:prstGeom prst="line">
            <a:avLst/>
          </a:prstGeom>
          <a:noFill/>
          <a:ln w="25400">
            <a:solidFill>
              <a:srgbClr val="FFD54F"/>
            </a:solidFill>
            <a:prstDash val="solid"/>
          </a:ln>
        </p:spPr>
      </p:sp>
      <p:sp>
        <p:nvSpPr>
          <p:cNvPr id="42" name="Text 29"/>
          <p:cNvSpPr/>
          <p:nvPr/>
        </p:nvSpPr>
        <p:spPr>
          <a:xfrm>
            <a:off x="4315968" y="26517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54F"/>
                </a:solidFill>
              </a:rPr>
              <a:t>▶</a:t>
            </a:r>
            <a:endParaRPr lang="en-US" sz="1600" dirty="0"/>
          </a:p>
        </p:txBody>
      </p:sp>
      <p:sp>
        <p:nvSpPr>
          <p:cNvPr id="43" name="Shape 30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44" name="Text 31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Thank You  •  Questions Welcome  •  FinCoreBank Pvt. Ltd.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FinCore Banking API - Sprint 1</dc:title>
  <dc:subject>PptxGenJS Presentation</dc:subject>
  <dc:creator>Student</dc:creator>
  <cp:lastModifiedBy>Student</cp:lastModifiedBy>
  <cp:revision>1</cp:revision>
  <dcterms:created xsi:type="dcterms:W3CDTF">2026-06-08T11:51:14Z</dcterms:created>
  <dcterms:modified xsi:type="dcterms:W3CDTF">2026-06-08T11:51:14Z</dcterms:modified>
</cp:coreProperties>
</file>