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3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81328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075688" y="365760"/>
            <a:ext cx="1335024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75688" y="36576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OVER()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47872" y="365760"/>
            <a:ext cx="2212848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7872" y="3657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FinCoreDW</a:t>
            </a:r>
            <a:endParaRPr lang="en-US" sz="40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6: Window Functions</a:t>
            </a:r>
            <a:endParaRPr lang="en-US" sz="40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MySQL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Chaitali   |  Date: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FinCoreBank Pvt. Ltd.  —  Banking Data Warehouse Initiative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About This Sprint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63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FinCoreDW — Banking Data Warehouse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2112264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984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modernization initiative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679192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5511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 methodology, 2-week sprints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246120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1181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focuses on window functions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685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row-level analytics without collapsing rows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17720" y="1234440"/>
            <a:ext cx="40690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Window Functions Matter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46320" y="182880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GROUP BY, which collapses rows into one summary, a window function computes a value across a set of related rows while keeping every row visible — running balances, account rankings, and period-over-period comparisons all rely on this in FinCoreDW's reporting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157276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ROW_NUMBER, RANK, DENSE_RANK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30552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30552" y="1554480"/>
            <a:ext cx="1572768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21992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221992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AVG, COUNT OVER()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03904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1554480"/>
            <a:ext cx="1572768" cy="502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95344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895344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LAG, LEAD, FIRST/LAST_VALUE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77256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1554480"/>
            <a:ext cx="1572768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1" name="Text 19"/>
          <p:cNvSpPr/>
          <p:nvPr/>
        </p:nvSpPr>
        <p:spPr>
          <a:xfrm>
            <a:off x="5477256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68696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568696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&amp; frames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50608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554480"/>
            <a:ext cx="1572768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42048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42048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 query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Sprint 6 Currently In Progress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Ranking Functions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position to each row within its window.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functions number rows in order — useful for finding the top account per branch or the largest transaction per day, without losing any rows.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31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834640" y="233172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sequential number, no ties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00837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00837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834640" y="300837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rank for ties, next rank skips numbers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68503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DENSE_RANK()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834640" y="368503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rank for ties, no gaps in sequence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3616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36168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NTILE(n)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834640" y="436168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rows into n equal-sized buckets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Aggregate Window Functions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aggregates, now computed per row instead of per group.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OVER() to a normal aggregate keeps every row instead of collapsing them — the key to computing a running balance alongside each transaction.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31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OVER()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08960" y="233172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or partitioned total, row by row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00837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0083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AVG() OVER()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08960" y="300837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average across the window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6850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 OVER()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108960" y="368503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count of rows in the window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3616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3616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MIN()/MAX() OVER()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08960" y="436168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/ largest value seen so far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Offset Functions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 neighboring row without a self-join.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functions reach forward or backward within the ordered window — ideal for comparing a transaction to the one before it, like detecting sudden balance drops.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31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LAG(col, n)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08960" y="233172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from n rows before the current row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00837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0083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LEAD(col, n)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08960" y="300837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from n rows after the current row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6850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FIRST_VALUE(col)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108960" y="368503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value in the current window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3616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3616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LAST_VALUE(col)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08960" y="436168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in the current window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OVER() 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PARTITION BY &amp; Frame Clauses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MySQL decides which rows belong to each window.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window function runs inside an OVER() clause, which controls grouping, ordering, and exactly which rows are included around each row.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317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 BY col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37560" y="2331720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the window for each group, like account_id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00837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00837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37560" y="3008376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row sequence inside each partition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68503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BETWEEN ...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37560" y="3685032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frame — e.g. unbounded preceding to current row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3616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36168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 BETWEEN ...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37560" y="4361688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based on value distance, not row count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 BY vs Window Functions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91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GROUP BY Aggregate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Window Function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Row count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Collapses to one row per group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Keeps every original row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Syntax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SUM(amount) ... GROUP BY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SUM(amount) OVER (PARTITION BY ...)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Row context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Loses row-level detail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Retains full row-level detail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Typical use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Totals, summary reports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Running balances, rankings, comparisons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Banking example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Total deposits per branch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</a:rPr>
                        <a:t>Running balance per account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FINCOREDW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Running Balance &amp; Branch Ranking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423160"/>
          </a:xfrm>
          <a:prstGeom prst="roundRect">
            <a:avLst>
              <a:gd name="adj" fmla="val 3019"/>
            </a:avLst>
          </a:prstGeom>
          <a:solidFill>
            <a:srgbClr val="0D15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53312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account_id,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txn_date,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SUM(amount) OVER 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account_id ORDER BY txn_date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BETWEEN UNBOUNDED PRECEDING AND CURRENT ROW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running_balance,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(PARTITION BY branch_id ORDER BY amount DESC) AS branch_rank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Fact_Transaction;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794760"/>
            <a:ext cx="731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account_id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the running total per account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37947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3794760"/>
            <a:ext cx="73152" cy="10515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txn_date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in chronological order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7947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794760"/>
            <a:ext cx="73152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(...)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transactions within each branch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Completed This Sprint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8191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367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5270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05840" y="17647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Functions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" y="207568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207568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Shape 8"/>
          <p:cNvSpPr/>
          <p:nvPr/>
        </p:nvSpPr>
        <p:spPr>
          <a:xfrm>
            <a:off x="324612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0712" y="158191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636776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5270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794760" y="17647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Window Fns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10712" y="207568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17" name="Shape 13"/>
          <p:cNvSpPr/>
          <p:nvPr/>
        </p:nvSpPr>
        <p:spPr>
          <a:xfrm>
            <a:off x="3410712" y="207568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8" name="Shape 14"/>
          <p:cNvSpPr/>
          <p:nvPr/>
        </p:nvSpPr>
        <p:spPr>
          <a:xfrm>
            <a:off x="603504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158191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36776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15270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583680" y="17647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Functions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199632" y="207568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24" name="Shape 19"/>
          <p:cNvSpPr/>
          <p:nvPr/>
        </p:nvSpPr>
        <p:spPr>
          <a:xfrm>
            <a:off x="6199632" y="207568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5" name="Shape 20"/>
          <p:cNvSpPr/>
          <p:nvPr/>
        </p:nvSpPr>
        <p:spPr>
          <a:xfrm>
            <a:off x="457200" y="2468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1792" y="263347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688336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25786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05840" y="2816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&amp; Frames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21792" y="312724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31" name="Shape 25"/>
          <p:cNvSpPr/>
          <p:nvPr/>
        </p:nvSpPr>
        <p:spPr>
          <a:xfrm>
            <a:off x="621792" y="312724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2" name="Shape 26"/>
          <p:cNvSpPr/>
          <p:nvPr/>
        </p:nvSpPr>
        <p:spPr>
          <a:xfrm>
            <a:off x="3246120" y="2468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410712" y="263347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2688336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94760" y="25786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794760" y="2816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3410712" y="312724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38" name="Shape 31"/>
          <p:cNvSpPr/>
          <p:nvPr/>
        </p:nvSpPr>
        <p:spPr>
          <a:xfrm>
            <a:off x="3410712" y="312724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9" name="Shape 32"/>
          <p:cNvSpPr/>
          <p:nvPr/>
        </p:nvSpPr>
        <p:spPr>
          <a:xfrm>
            <a:off x="6035040" y="2468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99632" y="263347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688336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583680" y="25786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583680" y="2816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Query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6199632" y="312724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45" name="Shape 37"/>
          <p:cNvSpPr/>
          <p:nvPr/>
        </p:nvSpPr>
        <p:spPr>
          <a:xfrm>
            <a:off x="6199632" y="312724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6" name="Shape 38"/>
          <p:cNvSpPr/>
          <p:nvPr/>
        </p:nvSpPr>
        <p:spPr>
          <a:xfrm>
            <a:off x="457200" y="35204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/>
        </p:spPr>
      </p:sp>
      <p:sp>
        <p:nvSpPr>
          <p:cNvPr id="47" name="Text 39"/>
          <p:cNvSpPr/>
          <p:nvPr/>
        </p:nvSpPr>
        <p:spPr>
          <a:xfrm>
            <a:off x="685800" y="3520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6 Sprint 6 objectives completed successfully  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9" name="Text 4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  •  FinCoreBank Pvt. Ltd.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773</Words>
  <Application>Microsoft Office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FinCoreDW Sprint 6: Window Functions in MySQL</dc:title>
  <dc:subject>PptxGenJS Presentation</dc:subject>
  <dc:creator>Chaitali</dc:creator>
  <cp:lastModifiedBy>Chaitali Badhe</cp:lastModifiedBy>
  <cp:revision>2</cp:revision>
  <dcterms:created xsi:type="dcterms:W3CDTF">2026-07-07T10:19:40Z</dcterms:created>
  <dcterms:modified xsi:type="dcterms:W3CDTF">2026-07-07T10:27:44Z</dcterms:modified>
</cp:coreProperties>
</file>