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0102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96696" cy="320040"/>
          </a:xfrm>
          <a:prstGeom prst="roundRect">
            <a:avLst>
              <a:gd name="adj" fmla="val 17143"/>
            </a:avLst>
          </a:prstGeom>
          <a:solidFill>
            <a:srgbClr val="1A237E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996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591056" y="365760"/>
            <a:ext cx="996696" cy="320040"/>
          </a:xfrm>
          <a:prstGeom prst="roundRect">
            <a:avLst>
              <a:gd name="adj" fmla="val 17143"/>
            </a:avLst>
          </a:prstGeom>
          <a:solidFill>
            <a:srgbClr val="1A237E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91056" y="365760"/>
            <a:ext cx="996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24912" y="365760"/>
            <a:ext cx="996696" cy="320040"/>
          </a:xfrm>
          <a:prstGeom prst="roundRect">
            <a:avLst>
              <a:gd name="adj" fmla="val 17143"/>
            </a:avLst>
          </a:prstGeom>
          <a:solidFill>
            <a:srgbClr val="1A237E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24912" y="365760"/>
            <a:ext cx="996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58768" y="365760"/>
            <a:ext cx="996696" cy="320040"/>
          </a:xfrm>
          <a:prstGeom prst="roundRect">
            <a:avLst>
              <a:gd name="adj" fmla="val 17143"/>
            </a:avLst>
          </a:prstGeom>
          <a:solidFill>
            <a:srgbClr val="1A237E"/>
          </a:solidFill>
          <a:ln w="9525">
            <a:solidFill>
              <a:srgbClr val="00BC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58768" y="365760"/>
            <a:ext cx="996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  • 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FinCoreDW</a:t>
            </a:r>
            <a:endParaRPr lang="en-US" sz="4000" dirty="0"/>
          </a:p>
          <a:p>
            <a:pPr marL="0" indent="0">
              <a:buNone/>
            </a:pPr>
            <a:r>
              <a:rPr lang="en-US" sz="2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5: SQL Command Categories —</a:t>
            </a:r>
            <a:endParaRPr lang="en-US" sz="4000" dirty="0"/>
          </a:p>
          <a:p>
            <a:pPr marL="0" indent="0">
              <a:buNone/>
            </a:pPr>
            <a:r>
              <a:rPr lang="en-US" sz="2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DDL, DML, DCL &amp; TCL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Chaitali   | Date: 2026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FinCoreBank Pvt. Ltd.  —  Banking Data Warehouse Initiative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040880" y="4526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/ SCRUM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About This Sprint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630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FinCoreDW — Banking Data Warehouse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31520" y="2112264"/>
            <a:ext cx="109728" cy="10972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19842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 modernization initiative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" y="2679192"/>
            <a:ext cx="109728" cy="10972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255117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/ Scrum methodology, 2-week sprints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" y="3246120"/>
            <a:ext cx="109728" cy="10972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11810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focuses on SQL command categories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3813048"/>
            <a:ext cx="109728" cy="109728"/>
          </a:xfrm>
          <a:prstGeom prst="ellipse">
            <a:avLst/>
          </a:prstGeom>
          <a:solidFill>
            <a:srgbClr val="1E88E5"/>
          </a:solidFill>
          <a:ln/>
        </p:spPr>
      </p:sp>
      <p:sp>
        <p:nvSpPr>
          <p:cNvPr id="14" name="Text 11"/>
          <p:cNvSpPr/>
          <p:nvPr/>
        </p:nvSpPr>
        <p:spPr>
          <a:xfrm>
            <a:off x="960120" y="36850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safe, controlled access to banking data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617720" y="1234440"/>
            <a:ext cx="40690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SQL Command Categories Matter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846320" y="1828800"/>
            <a:ext cx="3611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on FinCoreDW's data — from building a table to approving a transfer — belongs to one of four SQL command families. Knowing which is which prevents accidental schema changes, unauthorized access, and half-completed transactions in a banking system where correctness is non-negotiable.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We'll Cover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1572768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ALTER, DROP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30552" y="155448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30552" y="1554480"/>
            <a:ext cx="1572768" cy="50292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1" name="Text 9"/>
          <p:cNvSpPr/>
          <p:nvPr/>
        </p:nvSpPr>
        <p:spPr>
          <a:xfrm>
            <a:off x="2130552" y="1554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21992" y="224028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21992" y="265176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UPDATE, DELETE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03904" y="155448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03904" y="1554480"/>
            <a:ext cx="1572768" cy="5029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4"/>
          <p:cNvSpPr/>
          <p:nvPr/>
        </p:nvSpPr>
        <p:spPr>
          <a:xfrm>
            <a:off x="3803904" y="1554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95344" y="224028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95344" y="265176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GRANT, REVOKE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77256" y="155448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77256" y="1554480"/>
            <a:ext cx="1572768" cy="50292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21" name="Text 19"/>
          <p:cNvSpPr/>
          <p:nvPr/>
        </p:nvSpPr>
        <p:spPr>
          <a:xfrm>
            <a:off x="5477256" y="1554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68696" y="224028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68696" y="265176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COMMIT, ROLLBACK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50608" y="155448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50608" y="1554480"/>
            <a:ext cx="1572768" cy="50292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6" name="Text 24"/>
          <p:cNvSpPr/>
          <p:nvPr/>
        </p:nvSpPr>
        <p:spPr>
          <a:xfrm>
            <a:off x="7150608" y="1554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42048" y="2240280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42048" y="2651760"/>
            <a:ext cx="13898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combined workflow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Sprint 5 Currently In Progress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CATEGORY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DDL — Data Definition Language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that define or reshape database structure.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276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44752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commands change what the database looks like — tables, columns, and constraints — rather than the data inside it. Changes are typically auto-committed.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233172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377440" y="2331720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new table, view, index, or database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3008376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" y="300837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377440" y="3008376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Adds, modifies, or drops a column / constraint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68503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" y="368503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377440" y="368503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deletes an entire object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436168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5800" y="436168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TRUNCATE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377440" y="4361688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Empties all rows, keeps the table structure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CATEGORY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DML — Data Manipulation Language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that read and change the rows stored inside tables.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1E88E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276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44752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is the everyday workhorse of banking operations — every deposit, withdrawal, and balance lookup runs through these four commands.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233172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377440" y="2331720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new rows — e.g. a new transaction record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3008376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" y="300837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377440" y="3008376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Modifies existing values — e.g. adjusting a balance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68503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" y="368503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377440" y="3685032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specific rows matching a condition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436168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5800" y="436168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8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377440" y="4361688"/>
            <a:ext cx="6126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data for queries, reports, dashboards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CATEGORY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DCL — Data Control Language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that govern who is allowed to act on the database.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00BCD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276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44752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enforces least-privilege access — critical for regulatory compliance in a banking environment where every permission must be traceable.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233172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377440" y="2331720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user or role specific access rights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118104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" y="3118104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3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REVOKE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377440" y="3118104"/>
            <a:ext cx="6126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previously granted access rights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E1F5FE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96512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97280" y="393192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role-based access, audit compliance, and least-privilege banking controls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CATEGORY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TCL — Transaction Control Language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that keep multi-step operations safe and atomic.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1A237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276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444752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guarantees that a fund transfer never leaves money debited from one account without crediting the other — all steps succeed together, or none do.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233172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23317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TRANSACTION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108960" y="2331720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a block of grouped operations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3008376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85800" y="300837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08960" y="300837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Permanently saves all changes in the block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685032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85800" y="368503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108960" y="368503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Undoes all changes since the transaction began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57200" y="4361688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5800" y="436168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SAVEPOINT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108960" y="4361688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 point inside the transaction to roll back to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DDL vs DML vs DCL vs TCL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2918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DDL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DML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8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DCL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C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TCL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Acts 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Table / schema structure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Row-level data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User permissions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Transaction state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Example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CREATE TABLE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UPDATE ... SET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GRANT SELECT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COMMIT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Auto-commit?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Yes, immediate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No (until commit)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Yes, immediate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Controls commit itself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Reversible?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Hard to reverse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Yes, via ROLLBACK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Yes, via REVOKE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Yes, via ROLLBACK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</a:rPr>
                        <a:t>Banking use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Schema migrations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Transaction processing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Access control audits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74F"/>
                          </a:solidFill>
                        </a:rPr>
                        <a:t>Safe fund transfers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FINCOREDW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Workflow, All Four Categories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2423160"/>
          </a:xfrm>
          <a:prstGeom prst="roundRect">
            <a:avLst>
              <a:gd name="adj" fmla="val 3019"/>
            </a:avLst>
          </a:prstGeom>
          <a:solidFill>
            <a:srgbClr val="0D154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53312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DDL: define the ledger table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Fact_Transaction (txn_id INT PRIMARY KEY, amount DECIMAL(14,2));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DCL: control who may write to it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INSERT, UPDATE ON Fact_Transaction TO 'etl_service'@'%';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TCL + DML: perform a safe, atomic transfer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TRANSACTION;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Fact_Transaction SET amount = amount - 5000 WHERE txn_id = 1001;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Fact_Transaction SET amount = amount + 5000 WHERE txn_id = 1002;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3E5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7947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794760"/>
            <a:ext cx="731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679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builds the fact table structure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37947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3794760"/>
            <a:ext cx="73152" cy="10515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38679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29000" y="41605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limits write access to one role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379476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3794760"/>
            <a:ext cx="73152" cy="10515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38679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+ DML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41605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makes the transfer atomic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Completed This Sprint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81912"/>
            <a:ext cx="292608" cy="29260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636776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52704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05840" y="17647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Commands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" y="2075688"/>
            <a:ext cx="2322576" cy="73152"/>
          </a:xfrm>
          <a:prstGeom prst="rect">
            <a:avLst/>
          </a:prstGeom>
          <a:solidFill>
            <a:srgbClr val="E3EAF4"/>
          </a:solidFill>
          <a:ln/>
        </p:spPr>
      </p:sp>
      <p:sp>
        <p:nvSpPr>
          <p:cNvPr id="10" name="Shape 7"/>
          <p:cNvSpPr/>
          <p:nvPr/>
        </p:nvSpPr>
        <p:spPr>
          <a:xfrm>
            <a:off x="621792" y="2075688"/>
            <a:ext cx="2322576" cy="7315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1" name="Shape 8"/>
          <p:cNvSpPr/>
          <p:nvPr/>
        </p:nvSpPr>
        <p:spPr>
          <a:xfrm>
            <a:off x="3246120" y="14173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10712" y="1581912"/>
            <a:ext cx="292608" cy="29260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576" y="1636776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94760" y="152704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794760" y="17647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Commands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3410712" y="2075688"/>
            <a:ext cx="2322576" cy="73152"/>
          </a:xfrm>
          <a:prstGeom prst="rect">
            <a:avLst/>
          </a:prstGeom>
          <a:solidFill>
            <a:srgbClr val="E3EAF4"/>
          </a:solidFill>
          <a:ln/>
        </p:spPr>
      </p:sp>
      <p:sp>
        <p:nvSpPr>
          <p:cNvPr id="17" name="Shape 13"/>
          <p:cNvSpPr/>
          <p:nvPr/>
        </p:nvSpPr>
        <p:spPr>
          <a:xfrm>
            <a:off x="3410712" y="2075688"/>
            <a:ext cx="2322576" cy="7315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18" name="Shape 14"/>
          <p:cNvSpPr/>
          <p:nvPr/>
        </p:nvSpPr>
        <p:spPr>
          <a:xfrm>
            <a:off x="6035040" y="141732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99632" y="1581912"/>
            <a:ext cx="292608" cy="29260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636776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583680" y="152704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583680" y="17647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 Commands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199632" y="2075688"/>
            <a:ext cx="2322576" cy="73152"/>
          </a:xfrm>
          <a:prstGeom prst="rect">
            <a:avLst/>
          </a:prstGeom>
          <a:solidFill>
            <a:srgbClr val="E3EAF4"/>
          </a:solidFill>
          <a:ln/>
        </p:spPr>
      </p:sp>
      <p:sp>
        <p:nvSpPr>
          <p:cNvPr id="24" name="Shape 19"/>
          <p:cNvSpPr/>
          <p:nvPr/>
        </p:nvSpPr>
        <p:spPr>
          <a:xfrm>
            <a:off x="6199632" y="2075688"/>
            <a:ext cx="2322576" cy="7315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5" name="Shape 20"/>
          <p:cNvSpPr/>
          <p:nvPr/>
        </p:nvSpPr>
        <p:spPr>
          <a:xfrm>
            <a:off x="457200" y="24688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21792" y="2633472"/>
            <a:ext cx="292608" cy="29260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688336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05840" y="25786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005840" y="28163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 Commands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621792" y="3127248"/>
            <a:ext cx="2322576" cy="73152"/>
          </a:xfrm>
          <a:prstGeom prst="rect">
            <a:avLst/>
          </a:prstGeom>
          <a:solidFill>
            <a:srgbClr val="E3EAF4"/>
          </a:solidFill>
          <a:ln/>
        </p:spPr>
      </p:sp>
      <p:sp>
        <p:nvSpPr>
          <p:cNvPr id="31" name="Shape 25"/>
          <p:cNvSpPr/>
          <p:nvPr/>
        </p:nvSpPr>
        <p:spPr>
          <a:xfrm>
            <a:off x="621792" y="3127248"/>
            <a:ext cx="2322576" cy="7315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2" name="Shape 26"/>
          <p:cNvSpPr/>
          <p:nvPr/>
        </p:nvSpPr>
        <p:spPr>
          <a:xfrm>
            <a:off x="3246120" y="24688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410712" y="2633472"/>
            <a:ext cx="292608" cy="29260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5576" y="2688336"/>
            <a:ext cx="182880" cy="1828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794760" y="25786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3794760" y="28163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3410712" y="3127248"/>
            <a:ext cx="2322576" cy="73152"/>
          </a:xfrm>
          <a:prstGeom prst="rect">
            <a:avLst/>
          </a:prstGeom>
          <a:solidFill>
            <a:srgbClr val="E3EAF4"/>
          </a:solidFill>
          <a:ln/>
        </p:spPr>
      </p:sp>
      <p:sp>
        <p:nvSpPr>
          <p:cNvPr id="38" name="Shape 31"/>
          <p:cNvSpPr/>
          <p:nvPr/>
        </p:nvSpPr>
        <p:spPr>
          <a:xfrm>
            <a:off x="3410712" y="3127248"/>
            <a:ext cx="2322576" cy="7315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9" name="Shape 32"/>
          <p:cNvSpPr/>
          <p:nvPr/>
        </p:nvSpPr>
        <p:spPr>
          <a:xfrm>
            <a:off x="6035040" y="246888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199632" y="2633472"/>
            <a:ext cx="292608" cy="292608"/>
          </a:xfrm>
          <a:prstGeom prst="ellipse">
            <a:avLst/>
          </a:prstGeom>
          <a:solidFill>
            <a:srgbClr val="43A047"/>
          </a:solidFill>
          <a:ln/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688336"/>
            <a:ext cx="182880" cy="1828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583680" y="257860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00" dirty="0"/>
          </a:p>
        </p:txBody>
      </p:sp>
      <p:sp>
        <p:nvSpPr>
          <p:cNvPr id="43" name="Text 35"/>
          <p:cNvSpPr/>
          <p:nvPr/>
        </p:nvSpPr>
        <p:spPr>
          <a:xfrm>
            <a:off x="6583680" y="28163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Workflow</a:t>
            </a:r>
            <a:endParaRPr lang="en-US" sz="1250" dirty="0"/>
          </a:p>
        </p:txBody>
      </p:sp>
      <p:sp>
        <p:nvSpPr>
          <p:cNvPr id="44" name="Shape 36"/>
          <p:cNvSpPr/>
          <p:nvPr/>
        </p:nvSpPr>
        <p:spPr>
          <a:xfrm>
            <a:off x="6199632" y="3127248"/>
            <a:ext cx="2322576" cy="73152"/>
          </a:xfrm>
          <a:prstGeom prst="rect">
            <a:avLst/>
          </a:prstGeom>
          <a:solidFill>
            <a:srgbClr val="E3EAF4"/>
          </a:solidFill>
          <a:ln/>
        </p:spPr>
      </p:sp>
      <p:sp>
        <p:nvSpPr>
          <p:cNvPr id="45" name="Shape 37"/>
          <p:cNvSpPr/>
          <p:nvPr/>
        </p:nvSpPr>
        <p:spPr>
          <a:xfrm>
            <a:off x="6199632" y="3127248"/>
            <a:ext cx="2322576" cy="7315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46" name="Shape 38"/>
          <p:cNvSpPr/>
          <p:nvPr/>
        </p:nvSpPr>
        <p:spPr>
          <a:xfrm>
            <a:off x="457200" y="35204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E8F5E9"/>
          </a:solidFill>
          <a:ln/>
        </p:spPr>
      </p:sp>
      <p:sp>
        <p:nvSpPr>
          <p:cNvPr id="47" name="Text 39"/>
          <p:cNvSpPr/>
          <p:nvPr/>
        </p:nvSpPr>
        <p:spPr>
          <a:xfrm>
            <a:off x="685800" y="3520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All 6 Sprint 5 objectives completed successfully. </a:t>
            </a:r>
            <a:endParaRPr lang="en-US" sz="1200" dirty="0"/>
          </a:p>
        </p:txBody>
      </p:sp>
      <p:sp>
        <p:nvSpPr>
          <p:cNvPr id="48" name="Text 40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FOCUS: Joins &amp; Subqueries  •  Aggregate Functions &amp; GROUP BY  •  ETL Load Logic</a:t>
            </a:r>
            <a:endParaRPr lang="en-US" sz="1150" dirty="0"/>
          </a:p>
        </p:txBody>
      </p:sp>
      <p:sp>
        <p:nvSpPr>
          <p:cNvPr id="49" name="Text 4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 Welcome  •  FinCoreBank Pvt. Ltd.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762</Words>
  <Application>Microsoft Office PowerPoint</Application>
  <PresentationFormat>On-screen Show (16:9)</PresentationFormat>
  <Paragraphs>161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FinCoreDW Sprint 5: SQL Command Categories - DDL, DML, DCL, TCL</dc:title>
  <dc:subject>PptxGenJS Presentation</dc:subject>
  <dc:creator>Chaitali</dc:creator>
  <cp:lastModifiedBy>Chaitali Badhe</cp:lastModifiedBy>
  <cp:revision>2</cp:revision>
  <dcterms:created xsi:type="dcterms:W3CDTF">2026-07-05T11:43:45Z</dcterms:created>
  <dcterms:modified xsi:type="dcterms:W3CDTF">2026-07-05T11:48:00Z</dcterms:modified>
</cp:coreProperties>
</file>